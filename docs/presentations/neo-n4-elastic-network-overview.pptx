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633c9972754c39" /><Relationship Type="http://schemas.openxmlformats.org/officeDocument/2006/relationships/extended-properties" Target="/docProps/app.xml" Id="R0837809f2bb1462c" /><Relationship Type="http://schemas.openxmlformats.org/officeDocument/2006/relationships/officeDocument" Target="/ppt/presentation.xml" Id="R41efcdf8a3a64c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51946640b140cb"/>
  </p:sldMasterIdLst>
  <p:notesMasterIdLst>
    <p:notesMasterId xmlns:r="http://schemas.openxmlformats.org/officeDocument/2006/relationships" r:id="R0947f27af3504e40"/>
  </p:notesMasterIdLst>
  <p:sldIdLst>
    <p:sldId xmlns:r="http://schemas.openxmlformats.org/officeDocument/2006/relationships" id="256" r:id="Rb64a0a63d6cc4390"/>
    <p:sldId xmlns:r="http://schemas.openxmlformats.org/officeDocument/2006/relationships" id="257" r:id="Re49b0a59b9794048"/>
    <p:sldId xmlns:r="http://schemas.openxmlformats.org/officeDocument/2006/relationships" id="258" r:id="Ra24105d3f2b44f83"/>
    <p:sldId xmlns:r="http://schemas.openxmlformats.org/officeDocument/2006/relationships" id="259" r:id="R586d7bea43634c65"/>
    <p:sldId xmlns:r="http://schemas.openxmlformats.org/officeDocument/2006/relationships" id="260" r:id="Rc02986367c7041a1"/>
    <p:sldId xmlns:r="http://schemas.openxmlformats.org/officeDocument/2006/relationships" id="261" r:id="R5743e9eef8064c27"/>
    <p:sldId xmlns:r="http://schemas.openxmlformats.org/officeDocument/2006/relationships" id="262" r:id="R78cf887030cf414f"/>
    <p:sldId xmlns:r="http://schemas.openxmlformats.org/officeDocument/2006/relationships" id="263" r:id="R23ec7765eb8d48f7"/>
    <p:sldId xmlns:r="http://schemas.openxmlformats.org/officeDocument/2006/relationships" id="264" r:id="Rd5b39232e1f44385"/>
    <p:sldId xmlns:r="http://schemas.openxmlformats.org/officeDocument/2006/relationships" id="265" r:id="R0e9fb5f164104903"/>
    <p:sldId xmlns:r="http://schemas.openxmlformats.org/officeDocument/2006/relationships" id="266" r:id="R430f7b786db7436f"/>
    <p:sldId xmlns:r="http://schemas.openxmlformats.org/officeDocument/2006/relationships" id="267" r:id="Rb122542adeb54a45"/>
    <p:sldId xmlns:r="http://schemas.openxmlformats.org/officeDocument/2006/relationships" id="268" r:id="Ra6481c4ce8e1450c"/>
    <p:sldId xmlns:r="http://schemas.openxmlformats.org/officeDocument/2006/relationships" id="269" r:id="Rbdeb3dfcb8db49d0"/>
    <p:sldId xmlns:r="http://schemas.openxmlformats.org/officeDocument/2006/relationships" id="270" r:id="Rd925e43805c14052"/>
    <p:sldId xmlns:r="http://schemas.openxmlformats.org/officeDocument/2006/relationships" id="271" r:id="Rbbc9f822e60e40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e46796ed914aa9" /><Relationship Type="http://schemas.openxmlformats.org/officeDocument/2006/relationships/slideMaster" Target="/ppt/slideMasters/slideMaster1.xml" Id="R0551946640b140cb" /><Relationship Type="http://schemas.openxmlformats.org/officeDocument/2006/relationships/notesMaster" Target="/ppt/notesMasters/notesMaster1.xml" Id="R0947f27af3504e40" /><Relationship Type="http://schemas.openxmlformats.org/officeDocument/2006/relationships/presProps" Target="/ppt/presProps.xml" Id="R18b9ad476e5f4d37" /><Relationship Type="http://schemas.openxmlformats.org/officeDocument/2006/relationships/viewProps" Target="/ppt/viewProps.xml" Id="Raf68f0fe1d294637" /><Relationship Type="http://schemas.openxmlformats.org/officeDocument/2006/relationships/tableStyles" Target="/ppt/tableStyles.xml" Id="Ra64f6d7a021c4003" /><Relationship Type="http://schemas.openxmlformats.org/officeDocument/2006/relationships/slide" Target="/ppt/slides/slide1.xml" Id="Rb64a0a63d6cc4390" /><Relationship Type="http://schemas.openxmlformats.org/officeDocument/2006/relationships/slide" Target="/ppt/slides/slide2.xml" Id="Re49b0a59b9794048" /><Relationship Type="http://schemas.openxmlformats.org/officeDocument/2006/relationships/slide" Target="/ppt/slides/slide3.xml" Id="Ra24105d3f2b44f83" /><Relationship Type="http://schemas.openxmlformats.org/officeDocument/2006/relationships/slide" Target="/ppt/slides/slide4.xml" Id="R586d7bea43634c65" /><Relationship Type="http://schemas.openxmlformats.org/officeDocument/2006/relationships/slide" Target="/ppt/slides/slide5.xml" Id="Rc02986367c7041a1" /><Relationship Type="http://schemas.openxmlformats.org/officeDocument/2006/relationships/slide" Target="/ppt/slides/slide6.xml" Id="R5743e9eef8064c27" /><Relationship Type="http://schemas.openxmlformats.org/officeDocument/2006/relationships/slide" Target="/ppt/slides/slide7.xml" Id="R78cf887030cf414f" /><Relationship Type="http://schemas.openxmlformats.org/officeDocument/2006/relationships/slide" Target="/ppt/slides/slide8.xml" Id="R23ec7765eb8d48f7" /><Relationship Type="http://schemas.openxmlformats.org/officeDocument/2006/relationships/slide" Target="/ppt/slides/slide9.xml" Id="Rd5b39232e1f44385" /><Relationship Type="http://schemas.openxmlformats.org/officeDocument/2006/relationships/slide" Target="/ppt/slides/slide10.xml" Id="R0e9fb5f164104903" /><Relationship Type="http://schemas.openxmlformats.org/officeDocument/2006/relationships/slide" Target="/ppt/slides/slide11.xml" Id="R430f7b786db7436f" /><Relationship Type="http://schemas.openxmlformats.org/officeDocument/2006/relationships/slide" Target="/ppt/slides/slide12.xml" Id="Rb122542adeb54a45" /><Relationship Type="http://schemas.openxmlformats.org/officeDocument/2006/relationships/slide" Target="/ppt/slides/slide13.xml" Id="Ra6481c4ce8e1450c" /><Relationship Type="http://schemas.openxmlformats.org/officeDocument/2006/relationships/slide" Target="/ppt/slides/slide14.xml" Id="Rbdeb3dfcb8db49d0" /><Relationship Type="http://schemas.openxmlformats.org/officeDocument/2006/relationships/slide" Target="/ppt/slides/slide15.xml" Id="Rd925e43805c14052" /><Relationship Type="http://schemas.openxmlformats.org/officeDocument/2006/relationships/slide" Target="/ppt/slides/slide16.xml" Id="Rbbc9f822e60e40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7bc52e3cd748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7a8a98a2d446be" /><Relationship Type="http://schemas.openxmlformats.org/officeDocument/2006/relationships/notesMaster" Target="/ppt/notesMasters/notesMaster1.xml" Id="R665e3006327e4d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1bc4b31f824899" /><Relationship Type="http://schemas.openxmlformats.org/officeDocument/2006/relationships/notesMaster" Target="/ppt/notesMasters/notesMaster1.xml" Id="R394b01899bd840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a31ccdf4274a80" /><Relationship Type="http://schemas.openxmlformats.org/officeDocument/2006/relationships/notesMaster" Target="/ppt/notesMasters/notesMaster1.xml" Id="Rfde94ff35cfb48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6f89b00de34ce7" /><Relationship Type="http://schemas.openxmlformats.org/officeDocument/2006/relationships/notesMaster" Target="/ppt/notesMasters/notesMaster1.xml" Id="R3b0486a9366548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775daf0bc14298" /><Relationship Type="http://schemas.openxmlformats.org/officeDocument/2006/relationships/notesMaster" Target="/ppt/notesMasters/notesMaster1.xml" Id="Rfe6390ba858241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8f9ee1bd084a59" /><Relationship Type="http://schemas.openxmlformats.org/officeDocument/2006/relationships/notesMaster" Target="/ppt/notesMasters/notesMaster1.xml" Id="R9bc82909ebc842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6df819093f4e1c" /><Relationship Type="http://schemas.openxmlformats.org/officeDocument/2006/relationships/notesMaster" Target="/ppt/notesMasters/notesMaster1.xml" Id="R68de6157d0bb46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457d3fd8d94de0" /><Relationship Type="http://schemas.openxmlformats.org/officeDocument/2006/relationships/notesMaster" Target="/ppt/notesMasters/notesMaster1.xml" Id="Ra571dfd8508642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ba33fb0c064c63" /><Relationship Type="http://schemas.openxmlformats.org/officeDocument/2006/relationships/notesMaster" Target="/ppt/notesMasters/notesMaster1.xml" Id="R941b9e18dfa24f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ba6af0c9c348f2" /><Relationship Type="http://schemas.openxmlformats.org/officeDocument/2006/relationships/notesMaster" Target="/ppt/notesMasters/notesMaster1.xml" Id="R26c2c885ce8545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c93d696a554dee" /><Relationship Type="http://schemas.openxmlformats.org/officeDocument/2006/relationships/notesMaster" Target="/ppt/notesMasters/notesMaster1.xml" Id="R1b923fb865ba4b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ce8007a6b64638" /><Relationship Type="http://schemas.openxmlformats.org/officeDocument/2006/relationships/notesMaster" Target="/ppt/notesMasters/notesMaster1.xml" Id="R5d1346c0a2aa47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adfb5d939e41f1" /><Relationship Type="http://schemas.openxmlformats.org/officeDocument/2006/relationships/notesMaster" Target="/ppt/notesMasters/notesMaster1.xml" Id="R67a21f52f6f54c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ac66c9f23c4c36" /><Relationship Type="http://schemas.openxmlformats.org/officeDocument/2006/relationships/notesMaster" Target="/ppt/notesMasters/notesMaster1.xml" Id="Rb238acc1918f4e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4f4b3fbae04509" /><Relationship Type="http://schemas.openxmlformats.org/officeDocument/2006/relationships/notesMaster" Target="/ppt/notesMasters/notesMaster1.xml" Id="R7a06d9dc260f45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e0061af6774f77" /><Relationship Type="http://schemas.openxmlformats.org/officeDocument/2006/relationships/notesMaster" Target="/ppt/notesMasters/notesMaster1.xml" Id="R2ef9135e1c7246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4b9fa36374d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df8e909785430f" /><Relationship Type="http://schemas.openxmlformats.org/officeDocument/2006/relationships/slideLayout" Target="/ppt/slideLayouts/slideLayout1.xml" Id="R41ac05fd4f534e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ac05fd4f534e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f631677464041" /><Relationship Type="http://schemas.openxmlformats.org/officeDocument/2006/relationships/notesSlide" Target="/ppt/notesSlides/notesSlide1.xml" Id="R56d2eba52bbe4f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d83e305314d93" /><Relationship Type="http://schemas.openxmlformats.org/officeDocument/2006/relationships/notesSlide" Target="/ppt/notesSlides/notesSlide2.xml" Id="R6cff534087dd4d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2977dd5c94030" /><Relationship Type="http://schemas.openxmlformats.org/officeDocument/2006/relationships/notesSlide" Target="/ppt/notesSlides/notesSlide3.xml" Id="Rd291cbdaa00c4c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49752254249fc" /><Relationship Type="http://schemas.openxmlformats.org/officeDocument/2006/relationships/notesSlide" Target="/ppt/notesSlides/notesSlide4.xml" Id="Rf0265fa982454e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b105cc8bc4dc0" /><Relationship Type="http://schemas.openxmlformats.org/officeDocument/2006/relationships/notesSlide" Target="/ppt/notesSlides/notesSlide5.xml" Id="Rb0d236e811d24c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13dc6b4b248fe" /><Relationship Type="http://schemas.openxmlformats.org/officeDocument/2006/relationships/notesSlide" Target="/ppt/notesSlides/notesSlide6.xml" Id="Rede828cbd36448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58b1e9e834fbe" /><Relationship Type="http://schemas.openxmlformats.org/officeDocument/2006/relationships/notesSlide" Target="/ppt/notesSlides/notesSlide7.xml" Id="Rbaf9467a9f0a48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0a3fc8c9a4463" /><Relationship Type="http://schemas.openxmlformats.org/officeDocument/2006/relationships/notesSlide" Target="/ppt/notesSlides/notesSlide8.xml" Id="R1f04081bf80a4e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e50b32dcf40c2" /><Relationship Type="http://schemas.openxmlformats.org/officeDocument/2006/relationships/notesSlide" Target="/ppt/notesSlides/notesSlide9.xml" Id="Rb4efb8c67af44d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93b8ef89e4d46" /><Relationship Type="http://schemas.openxmlformats.org/officeDocument/2006/relationships/notesSlide" Target="/ppt/notesSlides/notesSlide10.xml" Id="Rd62904d4161f40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18879080d4b76" /><Relationship Type="http://schemas.openxmlformats.org/officeDocument/2006/relationships/notesSlide" Target="/ppt/notesSlides/notesSlide11.xml" Id="R751798286e9f4f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b8e4386874adb" /><Relationship Type="http://schemas.openxmlformats.org/officeDocument/2006/relationships/notesSlide" Target="/ppt/notesSlides/notesSlide12.xml" Id="R6a385f1c9f2847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33539da004526" /><Relationship Type="http://schemas.openxmlformats.org/officeDocument/2006/relationships/notesSlide" Target="/ppt/notesSlides/notesSlide13.xml" Id="Rccea9789dd7148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dfb4184834ca1" /><Relationship Type="http://schemas.openxmlformats.org/officeDocument/2006/relationships/notesSlide" Target="/ppt/notesSlides/notesSlide14.xml" Id="R3f4e45bf1d3e4d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90e706ed141d6" /><Relationship Type="http://schemas.openxmlformats.org/officeDocument/2006/relationships/notesSlide" Target="/ppt/notesSlides/notesSlide15.xml" Id="R14d752201ad440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dab26d1e94e30" /><Relationship Type="http://schemas.openxmlformats.org/officeDocument/2006/relationships/notesSlide" Target="/ppt/notesSlides/notesSlide16.xml" Id="R1d4191d88d5546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3DFDF-8995-46AE-B6CD-104C4D3C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04FFC-9FC8-4912-BFE9-1E758C09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5FE26-CB38-4BA7-8073-20AD82A4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C2FE2-60AA-4F9E-AE6F-978A81A2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8AF1C-79AE-4834-A7BF-912D9B7B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812D9-E2A5-4EDD-8EB6-695B5A04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1E4AE-9755-425E-BA22-2E103778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5B265-4915-4678-ACAB-66CCC75C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E832A-DAC3-4EA1-B680-239F3972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E1DC8-5A2B-4B1D-A8F7-91726B65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E67E4-841E-4368-ACA7-D4128C4E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93A51-7782-42A0-9AAA-E9DA0696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AB51B-F8D8-48D6-A583-A5B110AE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AEED8-7D28-416D-BC6D-20E159B3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0E599"/>
                </a:solidFill>
                <a:latin typeface="Menlo"/>
                <a:ea typeface="Menlo"/>
                <a:cs typeface="Menlo"/>
              </a:rPr>
              <a:t>NEO N4 OVERVIEW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BF69A-72EC-4EEE-B460-925928C0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57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 N4：为 Neo 构建的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Elastic Chain 全栈蓝图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C2384-DFA3-4C6C-8526-1F40DCC5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多 L2 注册、共享桥、结算、DA、RISC-V 执行、ZK 证明、Gateway 聚合与开发者工具，被组织成一个 Neo-native 的生产化系统。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C8A74-5942-4961-A490-5292216C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363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0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A8242-A98A-4BFD-8183-F63606C8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00E599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9D40A-2861-474C-B305-8D5E767A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NeoHub 合约项目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54A2B-B543-4A80-B5C1-A11F34B7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23 production + 1 test stub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ACE2C-0E3B-407C-9166-8CECCCA9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C8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2C8FF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32EE9-AFA5-4F76-9377-54135C8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6725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 core L2 native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AF57C-1410-4FAD-A678-13ACF3F9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72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桥、消息、系统配置等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DD2DC-319A-4016-BCA7-0FD824AD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481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C760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F6C760"/>
                </a:solidFill>
                <a:latin typeface="Menlo"/>
                <a:ea typeface="Menlo"/>
                <a:cs typeface="Menlo"/>
              </a:rPr>
              <a:t>1,521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0DBBA-D579-4C74-A58A-5B66D09C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6725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.NET 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FC0ED-252F-4896-B2E4-81D04AF9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72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34 个测试项目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E0330-DFF1-4CC4-B4B3-E7BA854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48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B7C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8B7CFF"/>
                </a:solidFill>
                <a:latin typeface="Menlo"/>
                <a:ea typeface="Menlo"/>
                <a:cs typeface="Menlo"/>
              </a:rPr>
              <a:t>RISC‑V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59394-FD02-460C-AF45-D2DCCA4F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执行与证明目标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9B55BE-9673-4FE7-8010-3C4A4305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PolkaVM + SP1/zkVM 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3FF918-99A6-4273-9B53-701D2E6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385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不是官方 Neo 4 发布版；这是 r3e 维护的 Neo-native L2/Elastic Network 实现。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0B25BF-E113-4B97-8BDB-787A5981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C9116-4B05-45F3-A44E-2BAE824D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§0–§1, README, docs/testing-approach.md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DFF62A-527B-400B-AF5C-647C5DB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91728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83E0D6-EF66-4E97-A301-BD14B715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39C11-4CA3-4E43-8962-B8F0B9E4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29CF2-27C7-4598-84AA-59376D57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A989B-A937-4065-A573-9416EFEB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65C1A-EE11-49A3-AC31-439C4651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3ABFD-95F8-4474-A836-630C799F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A82A6-D733-400E-8A98-411C9925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D0A84-9F71-40F7-B0FF-55E804F8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27A24-9D02-4A93-9252-E65EAA41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0D898-096D-4EAB-9FD8-91208E14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EFB9C-E750-4078-BBE3-8CBC2861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FBEF7-0CF6-4757-9DF1-3C46BE1A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3C377-C449-48C5-B6C7-3D1D57DD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WHY IT EXISTS-marker">
            <a:extLst xmlns:a="http://schemas.openxmlformats.org/drawingml/2006/main">
              <a:ext uri="{FF2B5EF4-FFF2-40B4-BE49-F238E27FC236}">
                <a16:creationId xmlns:a16="http://schemas.microsoft.com/office/drawing/2014/main" id="{BC05B593-530D-4E9F-80EA-C7A1B8CD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WHY IT EXISTS-label">
            <a:extLst xmlns:a="http://schemas.openxmlformats.org/drawingml/2006/main">
              <a:ext uri="{FF2B5EF4-FFF2-40B4-BE49-F238E27FC236}">
                <a16:creationId xmlns:a16="http://schemas.microsoft.com/office/drawing/2014/main" id="{455974B3-3E16-41D8-93B2-3EF00CEC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WHY IT EXISTS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597FD-DD95-4FBC-90D3-79078530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DD828E-7C81-44BA-BC49-2ABDD687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 core 是执行内核；完整 L2 还需要一整层系统。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1E619-CBF5-4E62-B22A-4D272D59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doc.md 的核心提醒：Neo 4 core 可以作为 L2 execution core，但不能单独构成完整 L2。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1E339-650F-44DE-AB0D-AF619490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C0A95-E8EB-46F7-BC08-B7E4F60C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F50C1-C6C1-43CA-BB2D-1EC97F72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 4 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CCF80-1EF1-4C47-957B-4BC72BA3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执行层 · 节点基础 · NeoVM2/RISC‑V runtime · dBFT sequencer 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67E5D-F763-4C86-B22A-9951B9A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47975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0F3CD-FCEC-4EDE-B34B-29D49078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24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C9619-FAC2-43FB-9D53-1968A1C1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52625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A2CE4-D818-4FD4-AE9A-E972412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5262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23673-7695-4865-84A2-A7C308EB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66925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结算根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E04D2A-E591-414A-90CF-4AA3BB7B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batchRoot / stateRoot / withdrawalRoot 上 L1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30CE2-EB1D-4B14-8A0C-8DF13F66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9283A-51E1-48F9-9526-8407436E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E992A-F434-4C80-ADBD-3F2397AD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资产根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F208B0-4FCF-484C-94D5-F304312B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SharedBridge + TokenRegistry 保持 canonical liquidity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493DD-8702-4DDC-B373-893FC8B6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29075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2DA0A9-99B9-45D6-851B-FE25C149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29075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F73125-663C-47B1-8F52-1596B5CC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消息根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7F051E-6193-4F1C-A153-B6ADF5E2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L1↔L2 / L2↔L2 消息可证明消费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0A1FF2-B2B9-4D63-8C60-A2E1D708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47975"/>
            <a:ext cx="533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976FAD-454C-47F5-8F80-DE00C6A1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B3902C-CEAF-40E7-A236-C7149878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30289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0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B568BE-96FA-429D-8F26-7DE9A51F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NeoHub + Gateway + DA + Prover + Tooling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D6CFC9-1D90-4359-BC78-4D3BA236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86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把“能执行交易”的核心，提升成“能托管资产、验证状态、保障退出、可运维扩展”的 L2 网络。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324C98-9262-4383-85D6-5A83CB15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24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E5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E599"/>
                </a:solidFill>
                <a:latin typeface="PingFang SC"/>
                <a:ea typeface="PingFang SC"/>
                <a:cs typeface="PingFang SC"/>
              </a:rPr>
              <a:t>这就是 Neo N4 的边界。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44ABB4-56E7-4908-868E-728E4173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4182D5-FB3B-4A11-8A9A-A60BD1B9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top note, §1, §22–§23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68584C-65E9-4903-9E1E-C64946BC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33137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C1AAB-DE71-429C-A983-E67609FB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BAACE-2C4C-4F61-BC2C-98E485B5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BAB7D-B031-448F-8AA7-2EE6B960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F2EF3-3BF0-4D04-9814-DE3B27BF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E630D-DF99-4781-B797-19ECCD88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1394A-00CE-4B04-B532-A9524E68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A09E6-8FD4-43EF-A760-06CF14BC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FA95D-DEC0-4423-9217-8BA1CD8C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09BE1-D6FD-4F0E-9943-56338790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1268A-667B-47B4-ACCF-E3F37179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23C4C-7CAE-4D92-9BB4-30C20F19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B5FA5-2315-4794-B79C-4D832CA6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480BA-7BB9-41EF-A62F-757691FE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SYSTEM MAP-marker">
            <a:extLst xmlns:a="http://schemas.openxmlformats.org/drawingml/2006/main">
              <a:ext uri="{FF2B5EF4-FFF2-40B4-BE49-F238E27FC236}">
                <a16:creationId xmlns:a16="http://schemas.microsoft.com/office/drawing/2014/main" id="{3EBF0192-33A2-4D68-8C90-9852500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SYSTEM MAP-label">
            <a:extLst xmlns:a="http://schemas.openxmlformats.org/drawingml/2006/main">
              <a:ext uri="{FF2B5EF4-FFF2-40B4-BE49-F238E27FC236}">
                <a16:creationId xmlns:a16="http://schemas.microsoft.com/office/drawing/2014/main" id="{B563935D-3039-46AC-BCFB-A4A0FC41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SYSTEM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2155A-FBE8-4F58-B7C4-8533980E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C5E35-520B-4BB1-BAE3-8AD47268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五层架构把多条 L2 收束到一个 Neo 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57DBE-A059-4D98-B9B8-8F00B3A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资产、状态、消息和治理最终锚定 NeoHub；Gateway 只聚合证明，不托管资产。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B6DC0-C5F7-4156-A642-C296C331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E7AB6-D0BD-4060-ACC9-DB5610CE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0"/>
          </a:solidFill>
          <a:ln xmlns:a="http://schemas.openxmlformats.org/drawingml/2006/main" w="0">
            <a:solidFill>
              <a:srgbClr val="F6C7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2D504-EED7-4105-B364-84D67CC0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963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L1 Settlement：Neo N3 / Neo 4 L1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05E42-2E40-47D7-A6A5-F97E0F06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963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final verifier · asset root · governance root · emergency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69653-CC3D-4474-A0E3-9800276B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3962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50857-610D-4CF2-80B0-A040C97B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FF345-D260-4CB6-B573-B39B40D0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194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NeoHub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71E96-5650-47BC-9B39-4A4C933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3695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ChainRegistry · SharedBridge · SettlementManager · VerifierRegistry · MessageRouter · DARegistry · 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0589C-0F09-495F-8992-F0A257B6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3962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4F07CD-6B6E-4B7B-8104-723AA5F2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99C37-957D-4715-994D-0C98AAD0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 Gateway（可选）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0D52B7-219C-4BA0-B266-B1359D0A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3695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multi-L2 proof aggregation · globalMessageRoot · aggregated settlement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3EF341-6219-4680-A3C1-A8C746A1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5524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D205CD-7FC0-4417-BB3D-30005BB7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575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821D8F-01C5-4670-B85E-E9853B3A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CECC7D-2C8F-402B-A59A-852F6E64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F5F6EC-A358-4452-964F-DFA80282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L2-A：Neo 4 execution chain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B8743D-1766-4C30-840D-CF2B803E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NeoVM2/RISC‑V · dBFT sequencer · native L2 contracts · rollup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79348D-E6BF-4FB8-BEDD-4BCC9E7D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B3E5FB-1D2E-43D8-BB6E-43FF9AA2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6FAB06-C5AA-476B-A4D0-E46F68FE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863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L2-B：Neo 4 execution chain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7DD32B-ACA5-4CB1-8CFE-D39C4AE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530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NeoVM2/RISC‑V · dBFT sequencer · native L2 contracts · validium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9BE3D4-9A34-4F12-8A42-7ADDFAB3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7200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65D65E-C5E9-499D-9587-8E00DC3D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72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413312-4D5C-443B-BFD6-96A6AF86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863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L2-C：Neo 4 execution chain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18C154-0EAB-4EFF-8C58-20F7C2DA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NeoVM2/RISC‑V · dBFT sequencer · native L2 contracts · sidechain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F79C66-97F8-410E-ABB2-1001BDA9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81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DA: L1 / NeoFS / DAC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7BFFF2-F69C-4598-BFE0-13610033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22D106-238B-43BE-AAF7-582EEB3B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§1, §3–§5, ARCHITECTURE.md §1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8434C9-A48F-4BC9-8D59-ACCEAA1C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185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4E4B20-2969-4D21-B14D-E264310C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B726B-D8A4-4730-AD60-ECA0D5B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A6681-D83E-48D1-B0D7-43BE95EA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4D365-8EC4-429C-979C-541BE6E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A0E29-D3B6-4781-A59C-7AE03B99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344FD-32AA-4B15-A90D-546936DC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30E6D-C939-45F5-8A7B-94254FCE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44D45-666B-4F7A-B241-8476B937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6EE4A-8453-4A4D-B741-D6794A7C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41490-8D40-4132-BFCE-D9F5BA24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68EAF-7E1F-45EC-A514-22023E18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F0B3A-A00F-4231-B764-24E9D0FA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5559A-30DE-4972-81D4-5462BA71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ELASTIC CHAIN PARITY-marker">
            <a:extLst xmlns:a="http://schemas.openxmlformats.org/drawingml/2006/main">
              <a:ext uri="{FF2B5EF4-FFF2-40B4-BE49-F238E27FC236}">
                <a16:creationId xmlns:a16="http://schemas.microsoft.com/office/drawing/2014/main" id="{79EB8F22-1663-40DF-8F0D-E65E7A52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ELASTIC CHAIN PARITY-label">
            <a:extLst xmlns:a="http://schemas.openxmlformats.org/drawingml/2006/main">
              <a:ext uri="{FF2B5EF4-FFF2-40B4-BE49-F238E27FC236}">
                <a16:creationId xmlns:a16="http://schemas.microsoft.com/office/drawing/2014/main" id="{1CD84F6B-38FC-45BD-BA8D-2A5527FD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ELASTIC CHAIN PARITY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4F8B4-81DC-478B-AC95-F2F7334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B1418-9684-48FE-9740-8006B879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复制的是 Elastic Chain 的安全不变量，不是 EVM 内脏。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D8B0B-BA3A-4FCB-B8BB-496D683E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 N4 保留 shared bridge、chain registry、proof aggregation、DA choice 和 forced inclusion；底层替换为 Neo-native 组件。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D148C-7E43-442E-9AFF-D60A3800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Invariant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B15CD-4EE5-4CA8-AD71-D44309D5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ZKsync pattern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1587A-5EA4-412B-B461-236A37AE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574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Neo-native replacement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3F612-AF26-4B66-8A2B-1D2D1870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998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E38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A8B3C-8EF7-4C06-BDF9-3E4E229A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0E599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00E599"/>
                </a:solidFill>
                <a:latin typeface="PingFang SC"/>
                <a:ea typeface="PingFang SC"/>
                <a:cs typeface="PingFang SC"/>
              </a:rPr>
              <a:t>Root of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B2BEB-8C50-4E72-840B-5B9FC9BC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Ethereum final verifier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D1DAB-19CB-49EA-AF9B-09D1EC03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955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Neo L1 / NeoHub final verifier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3B53E-7EB2-4617-95BD-8CF1C7AF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998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9525">
            <a:solidFill>
              <a:srgbClr val="1E38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870112-15DC-44BE-B9AF-658D54CB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0E599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00E599"/>
                </a:solidFill>
                <a:latin typeface="PingFang SC"/>
                <a:ea typeface="PingFang SC"/>
                <a:cs typeface="PingFang SC"/>
              </a:rPr>
              <a:t>Shared liquidity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E8AC2-0F92-4CCE-98DE-63586031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19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Bridgehub + SharedBridge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274AE8-7FF9-4C69-8835-7CFD779A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194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NeoHub.SharedBridge + TokenRegistry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3B52B9-EE59-42FB-B754-BCC8F499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998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E385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E56DE5-135E-488A-8D19-37977668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42C8FF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42C8FF"/>
                </a:solidFill>
                <a:latin typeface="PingFang SC"/>
                <a:ea typeface="PingFang SC"/>
                <a:cs typeface="PingFang SC"/>
              </a:rPr>
              <a:t>Execution VM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8B250-0499-446F-908A-FD574B0C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EraVM / EVM system contracts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29CF1-E50C-4B64-8793-CD60A406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43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NeoVM2 / RISC‑V + L2 native contracts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4E33F-70FA-46F2-A81A-CEC22EDA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998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9525">
            <a:solidFill>
              <a:srgbClr val="1E385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B564B4-488B-48DC-B7F0-A4B74FF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8B7CFF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8B7CFF"/>
                </a:solidFill>
                <a:latin typeface="PingFang SC"/>
                <a:ea typeface="PingFang SC"/>
                <a:cs typeface="PingFang SC"/>
              </a:rPr>
              <a:t>Proof stack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CD6DCA-7F9C-44E0-A782-A04D3CC8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671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Boojum / Airbender circuits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1D5658-535E-44DE-8953-42F9D432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671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RISC‑V execution receipt + SP1 / neo-zkVM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02698E-4295-4F2D-AAF4-B3CF6743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998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E385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6CD6B3-53CC-4F4E-9A70-4678EF9A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6C7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6C760"/>
                </a:solidFill>
                <a:latin typeface="PingFang SC"/>
                <a:ea typeface="PingFang SC"/>
                <a:cs typeface="PingFang SC"/>
              </a:rPr>
              <a:t>DA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F576C8-6AD9-4963-AC46-F9878443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91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Rollup / Validium choices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1F6F51-EEA5-4B34-B059-F63A5242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91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L1 / NeoFS / DAC policy in DARegistry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C50186-75AA-4252-82A1-C1532981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998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9525">
            <a:solidFill>
              <a:srgbClr val="1E385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291857-2EBE-43CA-9416-E835DC35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6B6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FF6B6B"/>
                </a:solidFill>
                <a:latin typeface="PingFang SC"/>
                <a:ea typeface="PingFang SC"/>
                <a:cs typeface="PingFang SC"/>
              </a:rPr>
              <a:t>Censorship defense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0B4D20-2F48-49DA-A729-F394AFE5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149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Priority queue / forced tx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4D6885-8685-40C0-8C3A-3FBD19AB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149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ForcedInclusion + SequencerBond + pauser wiring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AF316A-74CF-48D6-9B9C-983A036C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3BFC96-8A1A-4856-B302-80707493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docs/zksync-comparison.md, doc.md §4, §11–§12, §17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1EEBAE-04DA-429D-B746-F5208066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7490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3FFC9-A594-401D-AC34-AEBCDC8D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4E34A-338B-4D0A-BAF5-D5CB0405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5C070-A15C-48AE-86D1-4ADE0AC6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58D9F-3FA0-43A2-B0A2-21A0783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E473A-D07D-4871-9971-420A8506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F06D8-D978-4D15-9B92-924ED318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FBD1A-CECF-48D3-BBC6-E7C5F59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EA092-6C9C-48F8-A67E-5F531D4C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89E5C-7BB4-4D7C-BAEA-D5C02A12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3CE65-E3B7-4DEE-A6E1-B86ADF64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4B295-CB42-4669-A80C-489D3561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CC4DD-9399-425E-8652-EA5A3880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DD118-3A0D-480B-B2D1-61D58F7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NEOHUB-marker">
            <a:extLst xmlns:a="http://schemas.openxmlformats.org/drawingml/2006/main">
              <a:ext uri="{FF2B5EF4-FFF2-40B4-BE49-F238E27FC236}">
                <a16:creationId xmlns:a16="http://schemas.microsoft.com/office/drawing/2014/main" id="{9DDCADF5-6DD6-48E0-A931-377F77E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NEOHUB-label">
            <a:extLst xmlns:a="http://schemas.openxmlformats.org/drawingml/2006/main">
              <a:ext uri="{FF2B5EF4-FFF2-40B4-BE49-F238E27FC236}">
                <a16:creationId xmlns:a16="http://schemas.microsoft.com/office/drawing/2014/main" id="{120EBA82-DA84-4B4C-B560-ED6F7EB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DFD50-AB61-419E-9B5C-A7741026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A8E5F-FA45-4851-A1BE-26772EC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NeoHub 是多 L2 的合约操作系统。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F4148-81B2-4330-8DEE-23542FBB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不是一个“大合约”，而是一组职责清晰、可审计、可升级治理的 L1 合约边界。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6083B-21EF-4FC6-B7AC-0DFE3838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1917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745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A1FA1-8DBE-4BE5-9A05-D3C1AE79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21CA7-CBCB-4BFE-B43A-FEDB5C27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EEFBD-6885-44F7-AB21-C875775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Admission / Registry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5F571-7C91-4305-B983-DCD36FC9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2114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ChainRegistry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SequencerRegistry · SequencerBond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L1TxFilter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E2E567-0C06-451F-8CA1-D896BE4A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730E1-47D9-47E6-BDF1-4C76E195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92629-0C0B-4DEE-ABB6-77787539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384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Settlement /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C6BD06-398D-4513-84E3-09BC93A6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2114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SettlementManager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VerifierRegistry · ContractZkVerifier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OptimisticChallenge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8D0A4-FE2C-4461-BB81-84266DDD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F0B24-9426-4C27-8C78-D9C6CCE8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0"/>
          </a:solidFill>
          <a:ln xmlns:a="http://schemas.openxmlformats.org/drawingml/2006/main" w="0">
            <a:solidFill>
              <a:srgbClr val="F6C76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95E24A-E739-4CDF-AFD0-F715C44B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Bridge / Assets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48CDEC-97FB-4C0A-B71F-45BCA0A6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2114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SharedBridge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TokenRegistry · ExternalBridgeEscrow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ExternalBridgeBond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821F8E-494B-41E2-934A-5C11FE8F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4D1458-3AC5-46F8-9591-EF599D1A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A09044-E491-4345-9B9D-1AAA0DD7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Messaging / DA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DAB509-72D5-43C9-8539-4464647A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2114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MessageRouter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DARegistry · DAValidator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ForcedInclusion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D01C04-BF6E-47FA-924C-05451FDE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A0FD0A-95B1-42A7-B4B5-29B1DDDF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882031-52D2-4448-BE93-431EC840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Governance / Safety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3EDE93-818E-4FDD-9788-4EA4EDAD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2114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GovernanceController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EmergencyManager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fraud verifiers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54E9A6-1F00-47AB-8B79-76DF6601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DE992E-878E-4004-9C93-14703A37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8F58AD-4A25-475A-B721-D1459111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External bridge stack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40846F-DCAB-453B-9DA3-CD6CB432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2114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MpcCommitteeVerifier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MpcCommitteeFraudVerifier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foreign router artifacts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F3ACA1-BE3D-4951-9A9B-8BB82477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1460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00E599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312846-EFBE-45AD-B0CB-E85848A3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86100"/>
            <a:ext cx="1657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NeoHub contract projects</a:t>
            </a:r>
          </a:p>
          <a:p xmlns:a="http://schemas.openxmlformats.org/drawingml/2006/main">
            <a:pPr algn="ct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23 production deploy steps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11D92B-138F-45C2-9F8C-3A0136C8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2C8FF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42C8FF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357C5C-9D52-452D-87B7-9DD20B71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529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 core native</a:t>
            </a:r>
          </a:p>
          <a:p xmlns:a="http://schemas.openxmlformats.org/drawingml/2006/main">
            <a:pPr algn="ct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L2 contracts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F26E99-663A-4088-9142-92A83D9A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753E59-D426-454F-8750-3E701411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IMPLEMENTATION_STATUS.md, docs/tech-stack-coverage.md, doc.md §3.2, §13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4A2ABE-D13E-4A4A-B95F-6D9FAC32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87460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C2F2B9-757B-41CA-AA1C-81089383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31DFA-E0C4-47A2-9F8D-88D2629D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34996-D13A-442A-884F-494FE49E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590C4-C023-40A0-9D11-B5432505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E6EA7-337D-4379-8FC0-77CD169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2260F-9926-4D58-A22B-79EB58EE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AA505-B88F-4E41-B5CC-04621A08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DF300-C4A8-456A-AE91-17C476F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7A5B5-FAD6-4F49-B13F-AFF5805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30F8B-6C52-4F1D-BBEA-7DBCC93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30601-7E55-4806-BED4-B8BE01D9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6B27E-88B7-42F4-843D-E858B5A1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74B2E-F3BD-4353-A6BE-9BFE63CD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BATCH LIFECYCLE-marker">
            <a:extLst xmlns:a="http://schemas.openxmlformats.org/drawingml/2006/main">
              <a:ext uri="{FF2B5EF4-FFF2-40B4-BE49-F238E27FC236}">
                <a16:creationId xmlns:a16="http://schemas.microsoft.com/office/drawing/2014/main" id="{A1571204-11B7-484E-9F64-BED90AA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BATCH LIFECYCLE-label">
            <a:extLst xmlns:a="http://schemas.openxmlformats.org/drawingml/2006/main">
              <a:ext uri="{FF2B5EF4-FFF2-40B4-BE49-F238E27FC236}">
                <a16:creationId xmlns:a16="http://schemas.microsoft.com/office/drawing/2014/main" id="{95ADD204-984C-4367-A178-F6521F0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BATCH 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1EE2A-CF0E-42BB-9D64-0B263AA5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780D1-C6DF-45E7-AAD5-442760F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一笔 L2 交易最终变成 NeoHub 上可验证的批次根。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47EC1-DBBE-4630-8E8B-7DDFD136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交易执行、批次封装、DA、证明、提交、提款都走固定的 canonical encoders 与 roots。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93BD2-C5CA-4C85-AB05-BB15405C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428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B61E7-5F8F-48E1-9927-AF23BF14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E324C-E9DA-444B-B952-A314BDC9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 User tx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00089-E9CC-4160-A965-F7A2AF45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RPC / SDK</a:t>
            </a:r>
          </a:p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operator mempool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7A725-7D6E-4623-9428-950BE3B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62325"/>
            <a:ext cx="857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B9C07-0AD6-4146-9010-6A769339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38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D3728-8E51-4977-BF4B-12E2558F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81300"/>
            <a:ext cx="1428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7413D-F8FB-4B3A-8166-E207EB02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813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41177-F225-4D3F-A082-02403C75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956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2. Sequencer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71E105-E4AD-49FD-B92A-4F4BA68A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6230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dBFT committee</a:t>
            </a:r>
          </a:p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ordered block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D072BD-4AEB-4B16-8753-E8F6ABFA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62325"/>
            <a:ext cx="857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4E24C-33EC-4611-9A81-8F2D90AE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38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E0C4DC-18BF-4D07-89BD-DF54E8B8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81300"/>
            <a:ext cx="1428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CEC125-AFA8-4141-89FF-5CA9C4AD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813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E7A22B-120F-459A-B6AF-907BE2D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3. Executor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42BBCA-3C43-447A-B743-6CB369D1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NeoVM2/RISC‑V</a:t>
            </a:r>
          </a:p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state transition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F5B175-A1F1-415F-87C6-C0644E7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62325"/>
            <a:ext cx="857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4E4E6-28E0-4B7C-BF98-911D8695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38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9BEDB4-3ABB-4BA9-BF31-70485918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81300"/>
            <a:ext cx="1428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1B8A3E-270B-40E5-BE25-88BF6F22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813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0"/>
          </a:solidFill>
          <a:ln xmlns:a="http://schemas.openxmlformats.org/drawingml/2006/main" w="0">
            <a:solidFill>
              <a:srgbClr val="F6C76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55205B-7769-41C3-9EB2-760994FB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4. Batcher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1FE48A-0830-4D54-B73B-002D3B16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6230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L2BatchCommitment</a:t>
            </a:r>
          </a:p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public inputs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688A8D-B24F-4770-BAF8-241A2B4C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62325"/>
            <a:ext cx="857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4D7B2A-69C6-419C-923E-1216176F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5E496F-01FE-411C-952C-ABE21AE2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1428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025A8E-10C3-4F59-BE09-07582ADF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989E1C-0F9B-4FDA-8055-545C8D80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956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5. Prover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84EEAD-5303-479A-8EA6-D97C8B0B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multisig / optimistic / zk</a:t>
            </a:r>
          </a:p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proof payload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9E6EC1-C28A-403B-8E46-D2FECB60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62325"/>
            <a:ext cx="857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4D4B32-DE57-435D-9D64-0B65E49F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38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FA9DF8-9B4E-48CE-BAB4-DB35E0A7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81300"/>
            <a:ext cx="1428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C32094-A28B-4C40-8575-AB57F15F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813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FE0DD4-0F72-41E3-9547-C3D76E9F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8956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6. NeoHub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E42B91-FECD-4F91-B9E3-DBA999F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6230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verify + finalize</a:t>
            </a:r>
          </a:p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withdrawalRoot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634956-0BE2-4D90-84DE-93977A6B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010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17C998-F1E5-47F2-B9BD-A546665E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7677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stateRoot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3BAAAF-D307-4B89-84E4-45A8F250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51A0E5-05A9-4843-8D9B-33566E6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7677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batchRoot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079C4A-F07D-4A94-8AA1-DCA9D4C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1010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D42E80-64FC-4751-9E9B-875CC22D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7677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messageRoot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F5CC6A-7631-4713-AEA2-DA5E0799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BD589A-4FAE-486B-A869-9212EFA1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7677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withdrawalRoot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FB860E-2AD8-4D09-BA07-D3073F1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44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这些 roots 是桥、跨链消息、提款和审计的共同语言；格式由 BatchSerializer / MessageHasher / MerkleProofSerializer 等 canonical encoders 固定。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8651BB-FCF5-4EC9-B63B-F380B53A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1975F7-9548-47E2-A706-2E7D72BE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docs/architecture-walkthrough.md, doc.md §7–§8, AGENTS.md canonical encodings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D639BA-BEE9-4C64-9A93-E3C0766D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09838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956859-FD53-442B-8AB5-02AC053C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31793-C874-4BBC-ABE6-A4E40D35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8D5DC-CE71-4225-A222-4E79E150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3DA04-0887-4BF1-BBC7-D2540446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07A6C-B033-4475-B4E7-9B014347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324A7-453C-4612-ADFA-B047CA2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948DA-3A72-4443-AF60-13DD4D7A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4F162-B1D5-419A-98CA-6A32E10C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9F12D-A76D-43ED-9FB4-097AEE48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6E3E2-1FCA-443D-BD2A-8FE5D88B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17D01-6638-42BD-AA5D-83FB9131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E6991-62EB-4C63-9735-960D121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35214-5BBB-415D-9FD6-8B2DAD22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EXECUTION-marker">
            <a:extLst xmlns:a="http://schemas.openxmlformats.org/drawingml/2006/main">
              <a:ext uri="{FF2B5EF4-FFF2-40B4-BE49-F238E27FC236}">
                <a16:creationId xmlns:a16="http://schemas.microsoft.com/office/drawing/2014/main" id="{CA42A0E6-BE8E-4E3F-A406-63B541CB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EXECUTION-label">
            <a:extLst xmlns:a="http://schemas.openxmlformats.org/drawingml/2006/main">
              <a:ext uri="{FF2B5EF4-FFF2-40B4-BE49-F238E27FC236}">
                <a16:creationId xmlns:a16="http://schemas.microsoft.com/office/drawing/2014/main" id="{F346DACB-CBA8-4234-9693-AF9719C6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755AE-52D9-4EAE-A510-FE0FF5AA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2D5FD-6D21-45EF-A852-A7DF5837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执行层坚持 Neo-native，同时朝证明友好演进。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3D1AA-2E01-4DBB-A61E-32AA20CF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NeoVM2/RISC‑V 是未来 validity proof 的统一执行基础；当前通过 PolkaVM-backed host 接入 .NET L2 pipeline。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A2CCE-3700-43DE-9F2C-0E45FF74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C447E-F18D-4BCF-9B9E-231289F8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A9527-05BE-4D15-80A8-81A50F2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Operator 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94DAD-F201-4172-85DC-BE2870EF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L2 tx · deposits · forced inclusion · chain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CC66B-525F-4471-AA64-04333379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E72639-CD48-4643-AFA8-4BAA5387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193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E5162-E254-4CFF-9980-BBDAD5C6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2476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0AB3F-F616-4187-BE0C-9DFCBC26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3319D-BBC4-4C80-B92F-ED9D9B90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C# orchestration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C28D4E-9BB2-4DCB-BD08-F5E6BCC3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2209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ITransactionExecutor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RiscVTransactionExecutor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state seam + native contract hooks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6AD2B9-EA62-43A2-8286-33AAE90F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495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BB769B-2873-42DE-8E7C-A99A6331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DBFE9F-C4CC-43C3-AB5C-EB4FC070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2571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C8DCB2-D4F1-46CD-B8D1-0CA45C20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82AA8F-95A1-4AE2-89A3-A447C5B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RISC‑V guest boundary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AC6B47-688E-4219-9E8A-1468710A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23050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libneo_riscv_host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PolkaVM · deterministic stack items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NeoVM2-compatible execution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BEC36D-1E3A-4C91-97B1-126162D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962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9525">
            <a:solidFill>
              <a:srgbClr val="243E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4D646E-F2D8-4E89-9523-A08E748C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Why this matters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132F13-E2E5-4C3B-A184-EB8DD78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Execution reuse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292C58-2889-4BB7-878E-ABC8A91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6725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1B35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0A1773-C692-4A66-9390-EFE37112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67250"/>
            <a:ext cx="3276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CF7594-6714-430C-84CE-5F4D2294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Proof boundary clarity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6EC36B-8AA2-4951-B4D6-025D1DC4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5300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1B355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1B0295-889B-44BF-9093-B3F7EA3C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53000"/>
            <a:ext cx="2971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2A881F-3165-4690-ADF0-530E36A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234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F85B4C-1F92-4161-A796-0B9CA413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不证明整个 C# node；只证明 deterministic executor 的状态转换。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FFA2D9-FCB5-4957-98A2-92E345A4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CD7526-7382-42EA-838B-93E939F6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§8.1–§8.2, IMPLEMENTATION_STATUS.md Phase 4, src/Neo.L2.Executor.RiscV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643520-2076-4ED9-A68D-184571F3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16023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8BFC59-FF75-4EA7-831F-70BB94E6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8F4C7-C05C-4F6B-86DB-A7A6C00A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13DA6-F04A-49FE-B705-79B5D3D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B990B-A93B-46B7-83FA-7481BEE8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1E95F-2DF2-4BDE-9634-67A652A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CCFD3-9DA1-4F92-8FEC-9D84669E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01DDA-219E-4063-B8E7-CD9A82AE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80891-DA10-4F32-B7FC-922E6725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B7860-EDC4-4EC5-948F-7E06144A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1167E-E67C-43A0-9737-03F7F328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BED52-12C1-404F-936E-36C3D912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2603A-04FD-4498-86F7-0A581CCE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DAD38-8F1F-41B1-A5E2-A2BF9C02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PROVING-marker">
            <a:extLst xmlns:a="http://schemas.openxmlformats.org/drawingml/2006/main">
              <a:ext uri="{FF2B5EF4-FFF2-40B4-BE49-F238E27FC236}">
                <a16:creationId xmlns:a16="http://schemas.microsoft.com/office/drawing/2014/main" id="{6EA06AC8-490D-45F1-9D3C-EC2CE0B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PROVING-label">
            <a:extLst xmlns:a="http://schemas.openxmlformats.org/drawingml/2006/main">
              <a:ext uri="{FF2B5EF4-FFF2-40B4-BE49-F238E27FC236}">
                <a16:creationId xmlns:a16="http://schemas.microsoft.com/office/drawing/2014/main" id="{2147E104-3FD2-448D-9F9E-5290F7BD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PROVING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E4958-9B17-4AC3-A0C4-F928B6F9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4F606-61EA-412A-AA3E-0D9037C0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证明路径是分阶段升级，而不是一次性豪赌。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70932-4998-4E21-BC9A-DDCD1FA4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早期链可以用 attestation / optimistic；最终目标是 RISC‑V zk validity proof，并由 NeoHub 的 verifier registry 路由。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19A94-C171-4471-AFF4-628BC693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5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756C3-8038-451E-BADC-1D8E4F74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6A463-6F39-4054-BC83-6BFBAC5E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Stage 0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Attestation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34D2C-5562-42EC-B24F-68D4182E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M-of-N Secp256r1</a:t>
            </a:r>
          </a:p>
          <a:p xmlns:a="http://schemas.openxmlformats.org/drawingml/2006/main">
            <a:pPr algn="l">
              <a:def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operator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22A31-7918-4932-BC38-FE0F82AB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E599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00E599"/>
                </a:solidFill>
                <a:latin typeface="PingFang SC"/>
                <a:ea typeface="PingFang SC"/>
                <a:cs typeface="PingFang SC"/>
              </a:rPr>
              <a:t>fast bootstrap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05DFE8-2678-459F-977E-8FD86ECD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9900"/>
            <a:ext cx="323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6ADF7-CCCA-4440-9437-2B6F4F40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860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B4E99-21AA-45BD-B95A-1ABD2897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205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027BA-D213-46A6-ABDC-56542472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0"/>
          </a:solidFill>
          <a:ln xmlns:a="http://schemas.openxmlformats.org/drawingml/2006/main" w="0">
            <a:solidFill>
              <a:srgbClr val="F6C76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7A7C76-C58E-4297-99A7-3642C736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Stage 1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Optimistic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82966B-B83A-445E-ADE9-28105C09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575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challenge window</a:t>
            </a:r>
          </a:p>
          <a:p xmlns:a="http://schemas.openxmlformats.org/drawingml/2006/main">
            <a:pPr algn="l">
              <a:def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fraud proof payload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2CEA26-ACB5-44DE-9BB4-A30512E5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909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6C760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F6C760"/>
                </a:solidFill>
                <a:latin typeface="PingFang SC"/>
                <a:ea typeface="PingFang SC"/>
                <a:cs typeface="PingFang SC"/>
              </a:rPr>
              <a:t>economic safety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6E83D5-9CCA-4EA0-89FE-B9D9799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09900"/>
            <a:ext cx="323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380F1-A39D-414C-96E7-B8167D56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860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F45CB-DAA8-4429-8114-8812D752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05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763D78-E003-40AB-9158-382D9F2A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BD931C-7447-4BA3-9DBB-EF209049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Stage 2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ZK validity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FB68D4-CCD0-4436-8321-E6D5813B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SP1 / neo-zkVM</a:t>
            </a:r>
          </a:p>
          <a:p xmlns:a="http://schemas.openxmlformats.org/drawingml/2006/main">
            <a:pPr algn="l">
              <a:def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publicInputHash + VK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3E6F53-E1FA-47F2-B875-E694DD38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909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42C8F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42C8FF"/>
                </a:solidFill>
                <a:latin typeface="PingFang SC"/>
                <a:ea typeface="PingFang SC"/>
                <a:cs typeface="PingFang SC"/>
              </a:rPr>
              <a:t>trustless target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49FC5-32C7-4E9E-9F10-0CFC03DD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323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B3D837-A0B4-4839-A915-EB427D21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860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88A2AB-A666-42F3-BE50-93873F5D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2057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47D9A4-E19C-4AEB-BCD4-EB45123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C0E75A-D172-4051-BB3A-DF93EF40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Verifier routing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115D68-D0AC-44BD-B836-F8B5B43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VerifierRegistry</a:t>
            </a:r>
          </a:p>
          <a:p xmlns:a="http://schemas.openxmlformats.org/drawingml/2006/main">
            <a:pPr algn="l">
              <a:def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ContractZkVerifier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0D1A69-4B72-4591-ADFA-415EB58B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8B7CF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8B7CFF"/>
                </a:solidFill>
                <a:latin typeface="PingFang SC"/>
                <a:ea typeface="PingFang SC"/>
                <a:cs typeface="PingFang SC"/>
              </a:rPr>
              <a:t>upgradeable boundary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F7300A-1932-41E0-BA5F-8696197F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851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76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753C4E-4A81-4D2A-9649-08D77DD2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52950"/>
            <a:ext cx="788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Public inputs pin chainId、batchId、stateRoot、withdrawalRoot、messageRoot、DA commitment 和 execution hash；proof payload 只是在这个边界上切换 trust model。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6412FB-46BF-4EBE-9073-892C9283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E1E040-D349-4A1F-A6BE-8E6CF0B2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§7.5, §8.3, IMPLEMENTATION_STATUS.md, bridge/neo-zkvm-host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63EA4F-A7E0-47DC-847B-CF1FBC1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721413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48E7E-44EB-4A36-9503-BED7E655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9D32C-DE96-4DB7-AEE9-3D2414E5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BE0AD-A7F5-42D9-AC5C-E01D85E8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48687-E8DD-43FE-95F6-D8012B0C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4EC37-CEA8-4CD6-93A2-449B932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47729-A722-4D28-93D5-E9D73538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CA2F4-ED47-40B5-955C-574EBE9E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2E6A2-6E9F-4388-AF88-E5B5A27C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BF02D-24C8-431A-A0EA-2DAFE9D3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D18D3-586C-407D-AADA-8A1D4883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C492B-D94B-4379-84B9-4EED6426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36F43-28D2-464B-B513-55F3F25D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393C8-7A39-4FB1-B98A-9379257F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BRIDGE &amp; MESSAGING-marker">
            <a:extLst xmlns:a="http://schemas.openxmlformats.org/drawingml/2006/main">
              <a:ext uri="{FF2B5EF4-FFF2-40B4-BE49-F238E27FC236}">
                <a16:creationId xmlns:a16="http://schemas.microsoft.com/office/drawing/2014/main" id="{F5147677-80F3-470F-A950-4F32618E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BRIDGE &amp; MESSAGING-label">
            <a:extLst xmlns:a="http://schemas.openxmlformats.org/drawingml/2006/main">
              <a:ext uri="{FF2B5EF4-FFF2-40B4-BE49-F238E27FC236}">
                <a16:creationId xmlns:a16="http://schemas.microsoft.com/office/drawing/2014/main" id="{1D120D43-DC89-4803-B09C-E4F71198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BRIDGE &amp; MESSAGING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81C61-5430-4FAB-8C42-A79E84B5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A0B8C-C283-470B-8D6D-05990160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一座 SharedBridge，三类消息，统一资产根。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B055B-CB39-4EBB-A79A-D0231D35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资产不分散到每条 L2 的私有桥；提款只基于 finalized withdrawalRoot，跨链消息只基于可证明 messageRoot。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F0430-4C51-4CE1-BB70-DD249CF5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228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8042A-A5E5-4B7A-A87A-389B6675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ACB52-5492-45E0-B61A-34788042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Deposit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FD008-799A-4BE3-806C-0C63FB8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User locks GAS / asset on NeoHub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L1ToL2DepositMessage emitted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L2 consumes once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309E2-EA6D-4C2B-BDF0-05C20C1C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228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E1D62-6649-4348-9161-82894F11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0"/>
          </a:solidFill>
          <a:ln xmlns:a="http://schemas.openxmlformats.org/drawingml/2006/main" w="0">
            <a:solidFill>
              <a:srgbClr val="F6C76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86848-50A2-403B-AA2F-98889F33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Withdrawal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FC471-693A-4D99-AFC5-7950E5A3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L2 emits withdrawal record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root finalized on NeoHub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Merkle proof releases canonical asset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CB3E32-0BC6-49ED-B420-CD5A63A8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7810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6E012-9960-4D55-8D0B-4B98F8AE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EC6688-7F80-493D-8C37-E5B70A7C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95800"/>
            <a:ext cx="7810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3769C-ACE9-43BA-94C0-92775EF7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719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88D1B-D5D8-4128-AF9A-659ADFE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714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9BF9F1-E26B-4636-B93D-B134AA08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3105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NeoHub SharedBridge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0F4037-89A6-43BA-A209-706D4C97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canonical escrow</a:t>
            </a:r>
          </a:p>
          <a:p xmlns:a="http://schemas.openxmlformats.org/drawingml/2006/main">
            <a:pPr algn="ctr">
              <a:def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replay protection</a:t>
            </a:r>
          </a:p>
          <a:p xmlns:a="http://schemas.openxmlformats.org/drawingml/2006/main">
            <a:pPr algn="ctr">
              <a:def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asset mapping</a:t>
            </a:r>
          </a:p>
          <a:p xmlns:a="http://schemas.openxmlformats.org/drawingml/2006/main">
            <a:pPr algn="ctr">
              <a:def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message roots</a:t>
            </a:r>
          </a:p>
          <a:p xmlns:a="http://schemas.openxmlformats.org/drawingml/2006/main">
            <a:pPr algn="ctr">
              <a:def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withdrawal roots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EE8E44-691D-471A-82A4-CE4E981E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TokenRegistry keeps one canonical representation per asset.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D6113A-B7D1-42A3-9978-93F9A24C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76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9BD25B-4351-4F4D-814C-86FD796B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622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93293F-BB6B-42FF-8A97-FF46106C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476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155B69-AF44-482B-8EAB-20F814B5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719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24102F-AF88-461F-8026-1431282A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2228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4C1873-E539-4CA9-88E5-8434B999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145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D7EE9D-B568-4C9A-9B30-E99BD8F5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288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 execution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CBEBB1-E676-4494-AF89-20201783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BridgedNep17Contract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L2BridgeContract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L2MessageContract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A8C757-B461-4FC2-8F76-8D9799B8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24300"/>
            <a:ext cx="2228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05C3D1-9130-4D1C-9A6F-E9DCEDC0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243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7AF50B-C2B9-45A6-B11C-BD5F7C51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386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L2↔L2 / L2↔L1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D29A0F-2637-4C7E-B5F0-2CD3F5FA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05300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MessageRouter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globalMessageRoot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proof-backed consumption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A69EB4-A405-4875-94FD-472BC155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BA677F-A7C6-40EF-996C-F8BB5E20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§9–§11, §15.2–§15.3, ARCHITECTURE.md §10–§11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B67B00-B830-4893-B4CC-39B1C18D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20841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3EB89E-AD00-48ED-8496-CA96773D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24C49-62C8-4CF1-986F-870AC482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7F7A2-2929-4C2B-BCA2-5DCE6B0A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F4D5A-8D66-4511-B5E3-D4748E05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A0E27-8454-439E-A894-48EDF8DD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F2FD3-7456-4D87-A39B-EF1E105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7FE7C-1B5F-4BD8-8E00-22A7AEF3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163D9-4B42-447A-B064-C6C61A58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DB6EB-3815-4072-8CFD-0134F35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4DD2F-A0E3-4012-AE64-BEEA3533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D60A9-B648-4438-A06A-800CAF9A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426DB-B585-4F6C-8970-4CE126E0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C270F-F2C7-462F-B163-FF5668AC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DATA AVAILABILITY-marker">
            <a:extLst xmlns:a="http://schemas.openxmlformats.org/drawingml/2006/main">
              <a:ext uri="{FF2B5EF4-FFF2-40B4-BE49-F238E27FC236}">
                <a16:creationId xmlns:a16="http://schemas.microsoft.com/office/drawing/2014/main" id="{8878D7A6-860B-47B2-862D-8E725904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DATA AVAILABILITY-label">
            <a:extLst xmlns:a="http://schemas.openxmlformats.org/drawingml/2006/main">
              <a:ext uri="{FF2B5EF4-FFF2-40B4-BE49-F238E27FC236}">
                <a16:creationId xmlns:a16="http://schemas.microsoft.com/office/drawing/2014/main" id="{EDDCD628-3935-43D4-8B6F-BCF4E817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DATA AVAILABILITY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9BB41-6089-45B7-A2D9-1C52DEBE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FAE85-BFDA-4BA5-B2EE-855F1342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 模式不是实现细节；它决定用户可退出性。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3C074-F020-401D-81BE-0428BC61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 N4 把 rollup / validium / DAC 的数据策略显式登记，避免“看起来像 L2、实际不可退出”的模糊状态。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AB760-AA30-4E7D-A0E9-122457AA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DEB13-FC00-45D5-BBB0-ABB3FDE5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Security property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17B4E-244E-4CD8-9A0D-732464D3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95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Neo N4 implementation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BA980-DEC5-4995-A710-939CEACA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Operator 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2169C-B26C-49AE-96CB-0C199E8A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5DE23F-204C-41B6-A309-53A7DB68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E59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E599"/>
                </a:solidFill>
                <a:latin typeface="PingFang SC"/>
                <a:ea typeface="PingFang SC"/>
                <a:cs typeface="PingFang SC"/>
              </a:rPr>
              <a:t>L1 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910E4-F8B3-4662-8C9A-BEFC34E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strongest exit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0594A-D152-475F-9E9D-105B7EC1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batch data / commitments on L1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FD3A0-BC40-4596-B8EF-2686ED5E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max security, higher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07F8E9-DB0D-488E-A01C-C6759D5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BF8CF-77B6-4082-B0AA-7A775D9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2C8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42C8FF"/>
                </a:solidFill>
                <a:latin typeface="PingFang SC"/>
                <a:ea typeface="PingFang SC"/>
                <a:cs typeface="PingFang SC"/>
              </a:rPr>
              <a:t>NeoFS 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BDCE82-1FE4-4145-923B-495F8C18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623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Neo-native external 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2943C-004E-4F0E-9744-CD0FA428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623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NeoFsLikeDAWriter + object commitment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9D8918-33CF-439E-B3C7-FB98BF20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balanced cost + ecosystem fit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50D5C9-BCC3-4608-AF93-134BC015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3F5DA3-6D2B-404D-921A-B93BEE2A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C76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6C760"/>
                </a:solidFill>
                <a:latin typeface="PingFang SC"/>
                <a:ea typeface="PingFang SC"/>
                <a:cs typeface="PingFang SC"/>
              </a:rPr>
              <a:t>DAC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6E0B90-A236-450C-BBCE-0F61CA6E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76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committee-attested availability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A138B6-3CED-45B1-83FC-9384877B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767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DAValidator checks active policy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FBFA6F-93DC-4F77-A64F-99C0C39A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low cost, must disclose trust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B9CE36-5076-448F-93FF-7DCFCDA2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53050"/>
            <a:ext cx="8058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E31"/>
          </a:solidFill>
          <a:ln xmlns:a="http://schemas.openxmlformats.org/drawingml/2006/main" w="9525">
            <a:solidFill>
              <a:srgbClr val="2A4C7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CE5095-1D44-4BF4-99F0-E7976544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6735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Emergency exit 对 DA 有硬依赖：validium / DAC 模式必须提前披露风险和退出条件。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598CC9-01E6-4C12-BE7B-38FA4395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9C911E-B615-49DD-AC95-3D2EF1F4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§12, §15.5, docs/zksync-comparison.md DA invariant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B4ADCF-05B2-4BD3-A163-D9B432EB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66017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1AC37E-DDA5-4390-A5FB-BAE632C5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F4CC7-3E91-4CFE-9D78-9FE3DFC5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1FC7E-55ED-44E3-9F77-F2B8F12E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6A20B-F805-41A9-96F7-09171D11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52519-4A74-48FE-9846-33B2759E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2615C-422F-478A-903D-BF10F4BF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C1005-8EE2-4BB7-9423-3479C9E4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B2707-2716-49EB-A2EB-01CCCA7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95A81-0FAF-4A76-8379-6983719F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DD693-4118-4D6E-96B3-8CDB2364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A1238-0CA1-4385-A497-09C76CFF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3F50B-209B-4ADE-8C62-5E379E0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E407B-1FD1-4976-AAB8-061C2CC3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GATEWAY-marker">
            <a:extLst xmlns:a="http://schemas.openxmlformats.org/drawingml/2006/main">
              <a:ext uri="{FF2B5EF4-FFF2-40B4-BE49-F238E27FC236}">
                <a16:creationId xmlns:a16="http://schemas.microsoft.com/office/drawing/2014/main" id="{C30E1367-9103-47D7-B143-3105C03D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GATEWAY-label">
            <a:extLst xmlns:a="http://schemas.openxmlformats.org/drawingml/2006/main">
              <a:ext uri="{FF2B5EF4-FFF2-40B4-BE49-F238E27FC236}">
                <a16:creationId xmlns:a16="http://schemas.microsoft.com/office/drawing/2014/main" id="{33C428B1-EC8F-4BC2-949A-1325E1DF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30E65-1793-40B0-BF50-407E27FA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C662F-7CC4-4C05-88D1-6401D71B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Gateway 降低 L1 验证压力，但绝不接管资产托管。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43A41-913C-40A5-ADC3-1682EAA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多条 L2 可把 proofs 和 message roots 聚合后再交给 NeoHub；资产仍锁在 SharedBridge。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59D44-204E-484E-9A53-693D633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579EC-1353-4189-B6AE-942CAB4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A30B9-ED0D-4782-88A0-D8A0691E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L2-A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82943-E73E-4C96-88A3-AEE866B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batchRoot + messageRoot</a:t>
            </a:r>
          </a:p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round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FF0C2-48B3-4A47-85AB-20169E07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971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64EFC-F6A7-49EA-8600-F8D4A34B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860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2CC39-AB7F-4B4B-B1A2-B3BFC616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2D97E-503C-486E-967E-1464A562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8F891-7495-4881-B515-9EA8AF29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L2-B proof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E4670-9865-4686-83E9-21D89979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batchRoot + messageRoot</a:t>
            </a:r>
          </a:p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round 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01869-7280-416C-AFFB-7655B2D1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57600"/>
            <a:ext cx="971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FF7383-59A7-4D7C-B58C-11B3A24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337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A0B4E-39D8-414B-BF1D-4FC16950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1836D8-4B5B-4010-AA08-8DE45E4D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1E68CB-5BC7-4A80-9418-E3B6062A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L2-C proof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59300D-A5DC-4E29-8649-F1923C16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batchRoot + messageRoot</a:t>
            </a:r>
          </a:p>
          <a:p xmlns:a="http://schemas.openxmlformats.org/drawingml/2006/main">
            <a:pPr algn="l">
              <a:def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round 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74E1F-A81D-4841-BE3D-F80EC24A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05350"/>
            <a:ext cx="971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1B7F42-E125-4A8A-889E-854765D0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815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3C433A-BA85-4F28-A3DA-A450132E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2647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B31F1A-C7F4-4644-8269-94181896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15D7F-4172-4B8A-BF49-E231C438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 Gateway Aggregator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A5D522-2C0A-461D-8F39-FC990A8F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BinaryTreeAggregator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MultisigRoundProver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MerklePathRoundProver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PassThrough reference seam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A120ED-061B-4CC8-9218-6244DDC8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90925"/>
            <a:ext cx="8763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2C3255-8747-4FF7-B958-2B818AB4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34E202-2CB1-4C49-96DE-A15EC5A6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2400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59FAE6-DE93-420D-BA28-B23E0029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6AE7BA-2BFC-4964-B3BB-E8F84A0B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NeoHub finalization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467226-180B-4CDE-B583-2914012D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24200"/>
            <a:ext cx="2133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aggregated settlement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globalMessageRoot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asset custody remains in SharedBridge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4A0852-FBE4-4927-9DA6-80B3CD85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62550"/>
            <a:ext cx="649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76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6447A2-6082-46BD-B636-B64B1DE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8637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设计边界：Gateway 是 proof aggregation layer + inter-L2 message root layer，不是资产桥。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846D86-63FC-494F-867C-4CDC6D29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F5AAD5-A10C-41BE-BC3C-DB941F67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§4, IMPLEMENTATION_STATUS.md Phase 5, ARCHITECTURE.md §4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0AB051-9DD1-4472-9D7C-3D7359AC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266585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DEC3C-A133-4D71-B779-1D26795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92634-3F00-4A99-A029-4D516C62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7FCB7-E4EA-4CBC-A44F-F6FA54CB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FFB0A-B60D-4474-A2C9-C2DBF780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084D7-5512-4A12-9D9C-EDDAF0AA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669E8-0A51-4D1F-B0EA-0F37CAA9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D66E6-75AA-41B2-904B-1C10A56E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2E0C6-5C54-4622-8A8E-1BC1FDB0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64607-7B40-4E8E-829B-13A4B9B2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7D7F-0587-4626-A5EC-2CA2C375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8E749-4274-43B0-BFF6-453441DD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777EB-5B9F-4747-AA4F-E9ED33D1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168CA-511A-4085-A869-12E3A9FB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SECURITY MODEL-marker">
            <a:extLst xmlns:a="http://schemas.openxmlformats.org/drawingml/2006/main">
              <a:ext uri="{FF2B5EF4-FFF2-40B4-BE49-F238E27FC236}">
                <a16:creationId xmlns:a16="http://schemas.microsoft.com/office/drawing/2014/main" id="{BF75E6FE-346F-4518-9F73-F9138C07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SECURITY MODEL-label">
            <a:extLst xmlns:a="http://schemas.openxmlformats.org/drawingml/2006/main">
              <a:ext uri="{FF2B5EF4-FFF2-40B4-BE49-F238E27FC236}">
                <a16:creationId xmlns:a16="http://schemas.microsoft.com/office/drawing/2014/main" id="{28539632-92BB-44BB-8676-E422237B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SECURITY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A4E84-1FCC-4350-A279-6A57E8BD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C22E3-CBA1-4021-8228-36372C75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威胁模型不是附录；每个风险都有落地控制。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AEA84-CF1B-4B3A-A964-69D62563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审查重点从“有没有组件”推进到“失败时谁能检测、谁能暂停、用户如何退出”。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D5428-6F77-4715-B1EA-6691C8E4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Threat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6614F-1937-4A6A-8D3C-CE9FDF2D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Control plane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95C61-D0F7-411F-A0A0-3A9D65A2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Operational effect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C14EA-D566-4769-AE0B-8EA942DD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172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A3FBA-89F6-4B64-8314-FEF9037E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6B6B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FF6B6B"/>
                </a:solidFill>
                <a:latin typeface="PingFang SC"/>
                <a:ea typeface="PingFang SC"/>
                <a:cs typeface="PingFang SC"/>
              </a:rPr>
              <a:t>Sequencer censorship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E34DD-62A9-4473-8332-E6D9738F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ForcedInclusion + SequencerBond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2031A5-9C7A-4508-B978-E42415A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overdue forced tx → report / slash / pause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53DC5-D0E0-4160-B4CD-D3FBA52A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172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80944D-B7E3-4B59-8450-14469ED2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6C7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F6C760"/>
                </a:solidFill>
                <a:latin typeface="PingFang SC"/>
                <a:ea typeface="PingFang SC"/>
                <a:cs typeface="PingFang SC"/>
              </a:rPr>
              <a:t>Invalid state root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A75911-5585-47BB-801A-EB74F6D9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VerifierRegistry + OptimisticChallenge + ZK route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849752-D6AE-4D43-B2C6-47A888F3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proof-type dispatch and challenge/validity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ED32B-3791-4C68-A429-2B594F0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172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35F1E8-95D5-4112-B5AD-5C544A31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0E599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00E599"/>
                </a:solidFill>
                <a:latin typeface="PingFang SC"/>
                <a:ea typeface="PingFang SC"/>
                <a:cs typeface="PingFang SC"/>
              </a:rPr>
              <a:t>Bridge replay / duplication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487467-7345-4ACB-AA2D-BFCCA164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MessageHasher + nonce / root pinning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91CC5E-661C-4784-B8C1-B2228B3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909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canonical bytes + once-only consumption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FA8E76-3AB1-484B-867C-83984890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172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9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BF2FDF-6A6B-497D-8BF6-F5B4220A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2C8FF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42C8FF"/>
                </a:solidFill>
                <a:latin typeface="PingFang SC"/>
                <a:ea typeface="PingFang SC"/>
                <a:cs typeface="PingFang SC"/>
              </a:rPr>
              <a:t>DA unavailable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F9E8F6-83B8-49FE-AC71-AE26ABCA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DARegistry + DAValidator + disclosure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D7E384-8EE7-4190-B56B-4D42AB11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active policy checked before finalization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6DE5CA-9C77-45E0-87B7-73854CD7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172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8A7F0A-7446-429D-A465-43E35E6C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8B7CFF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8B7CFF"/>
                </a:solidFill>
                <a:latin typeface="PingFang SC"/>
                <a:ea typeface="PingFang SC"/>
                <a:cs typeface="PingFang SC"/>
              </a:rPr>
              <a:t>Upgrade / verifier attack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91BA7C-8C6D-42D0-BE4F-A811414A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GovernanceController + timelock + emergency manager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8B4B7A-74DE-43D4-93AD-0379D28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244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staged proposals + pause / escape hatch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992053-057E-4A2B-BCFC-400B6BF9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434962-A214-4440-B1A3-7E532AC8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§17, §15.4–§15.5, IMPLEMENTATION_STATUS.md production-readiness audit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D2C614-8169-499A-AEBE-346D8143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07192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EB17D1-3DCA-4E96-87E7-78777114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6B06B-5317-4CEC-9D3D-17E693EE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B2AB6-5079-4794-94C8-4A7AC26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9A7F4-63C2-43E3-B1CC-7B5A35B0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9C5F3-9DC2-4DAE-8A93-1B64094A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6A80B-8C31-476D-9403-D8346BB6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4E124-AB3F-46D1-9E7F-BF36F6E8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FB0FC-4D55-4587-99E3-17F5EAB4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666A3-17F6-43C2-A174-93F2BC48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FBB48-AA23-409C-812C-AFF51785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B8EBA-27C1-4346-B028-E36DA6AA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BEA7A-CE88-4E4E-8AD9-60850BA0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5EF48-2CE0-47C5-9923-AE7EF9E0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OPERATOR EXPERIENCE-marker">
            <a:extLst xmlns:a="http://schemas.openxmlformats.org/drawingml/2006/main">
              <a:ext uri="{FF2B5EF4-FFF2-40B4-BE49-F238E27FC236}">
                <a16:creationId xmlns:a16="http://schemas.microsoft.com/office/drawing/2014/main" id="{F5B77DAB-8040-45CD-B24D-AF7BF45C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OPERATOR EXPERIENCE-label">
            <a:extLst xmlns:a="http://schemas.openxmlformats.org/drawingml/2006/main">
              <a:ext uri="{FF2B5EF4-FFF2-40B4-BE49-F238E27FC236}">
                <a16:creationId xmlns:a16="http://schemas.microsoft.com/office/drawing/2014/main" id="{55D257E2-D046-4FA0-AB1A-7CBDE630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OPERATOR EXPERIENCE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1A0CE-3411-4442-B202-7B51700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84C22-AD22-408B-80A6-C9E8858D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neo-stack 把“搭一条链”变成可复现流程。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45117-A560-4E16-B42E-88566B8F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模板、配置、脚手架、devnet、部署计划和验证命令都以 operator workflow 暴露，而不是散落在仓库脚本里。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C7476-0CF2-4AFC-A6A5-7A5893B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EDA40-8018-446E-A9C2-B6C5D116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40DB4-8FD6-47BF-A880-46BC20BE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new-l2 / create-chain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5591D-F83C-4BC7-A61B-B6A94B70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828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chain config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rollup · gaming · validium · sidechain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02E26-757A-4C4C-8C44-271BF1E4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81325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7ABB1-133E-4D0B-97AB-D1E26454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57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5AD343-5E75-48F3-9804-86599076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B4EAE5-DE2C-46BF-A4A9-ECDF594A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28619-E7BA-48F5-8179-6B273F46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955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scaffold-executor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BEFF6-6D80-4A06-BF6C-E0481443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62250"/>
            <a:ext cx="1828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custom tx format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state seam +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895D1-7BE4-49C1-A672-6E064780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9F4F92-E9DA-4BEC-8D46-B8C39244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7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1A3D78-EA1D-4089-AEC8-94069FDC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E3A61C-3318-4654-B1D3-EC13A50A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B76E34-229A-4757-8E19-B19483B4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init-l2 / start-*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F8011D-00AD-425E-84F7-6D1A09C2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828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sequencer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batcher · prover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40CEA0-98D7-43E9-BFC3-931F517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81325"/>
            <a:ext cx="247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89C8A2-1376-4AB0-8C6E-78843007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298851-F903-4609-A5A6-EB6CD37C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B021EA-6303-4261-9A60-EF6FA3EF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0"/>
          </a:solidFill>
          <a:ln xmlns:a="http://schemas.openxmlformats.org/drawingml/2006/main" w="0">
            <a:solidFill>
              <a:srgbClr val="F6C76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6B4461-1C7A-4EA9-8E64-1F0D682A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955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deploy / submit / validate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AAB8F8-226D-449C-B616-9D7914FB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1828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NeoHub plan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smoke + audit checks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9EAFE9-35CF-47D8-AC1B-BFC9F7F7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9448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B9B8B3-EECE-4096-9CBA-14591A59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2775" b="1">
                <a:solidFill>
                  <a:srgbClr val="00E599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B85A15-D24E-4169-88B7-55EE7D08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339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neo-stack subcommands all functional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BB239F-2ED9-43AB-81C3-3B7BE815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148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014AD6-6AFE-473E-B1D0-18D20537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8152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SDKs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2B95B2-196B-4527-A058-B6B281C5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148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1289ED-349A-467C-9BB4-A1625D6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815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Devnet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BB5B78-631B-4B73-9234-A0149320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148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F5E21E-6ACA-428B-BEE7-8385106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815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Deploy planner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9B42AF-CC7A-4986-8C13-3D1EA2D4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Wallet-side L1/L2 submission commands intentionally print structured operator plans until wallet integration is wired.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92BD9A-D5B4-4C5D-BFDB-3A782533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44788B-8853-4E6C-BE5E-58278B0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README quick start, IMPLEMENTATION_STATUS.md Tools, docs/tech-stack-coverage.md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A2D284-9904-408F-8E59-85D86B94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57281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88CD49-D919-47E6-876C-0F0F5221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57D9A-9B1D-4038-9958-0126EE43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FDC80-EC7C-4B8C-9B3E-D1D479E7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1791C-5D96-48A2-AD5A-AD3ADAE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0323B-DA5D-42FC-9EDB-B7CE62F5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51F11-785D-4AA5-8AF8-B48A8639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A60E1-5E42-495C-B208-FC8CF34C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0C8DE-86F1-4807-BC8C-436DE567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1C461-2541-4208-B5DA-34B6C6D0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8C95F-418B-4FAE-8EF5-5C48F6A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3266B-4E2F-420A-B7B3-3BA9E35B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88641-0008-421E-A8A4-3650E251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66C9F-81AB-454D-9871-AC8E2EA4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VERIFICATION-marker">
            <a:extLst xmlns:a="http://schemas.openxmlformats.org/drawingml/2006/main">
              <a:ext uri="{FF2B5EF4-FFF2-40B4-BE49-F238E27FC236}">
                <a16:creationId xmlns:a16="http://schemas.microsoft.com/office/drawing/2014/main" id="{C55B10B1-40DD-43EC-BB3C-180FB3FB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VERIFICATION-label">
            <a:extLst xmlns:a="http://schemas.openxmlformats.org/drawingml/2006/main">
              <a:ext uri="{FF2B5EF4-FFF2-40B4-BE49-F238E27FC236}">
                <a16:creationId xmlns:a16="http://schemas.microsoft.com/office/drawing/2014/main" id="{821285BA-4CEC-418C-BDAD-942565F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0659C-559A-4A25-A840-7178E495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2EDDA-DFD5-45DF-8224-D04BD856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生产完备性靠测试面和 release gates 说话。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DB2BD-6EAE-4E26-8DD1-E152F17F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当前项目已经把 .NET、Rust、TypeScript、Solidity/Foundry、SP1 real-proof 和文档门禁纳入验证叙事。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82F7D-EDE2-4393-B3CD-A09109A1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9052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0402D-7DBB-40DE-8CF7-683244E0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C760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F6C760"/>
                </a:solidFill>
                <a:latin typeface="Menlo"/>
                <a:ea typeface="Menlo"/>
                <a:cs typeface="Menlo"/>
              </a:rPr>
              <a:t>1,521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1A0C5-878A-46FA-B728-E1E920FB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1524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.NET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644BD-9E1F-4CFE-92D8-E701F89C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34 projects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414A0-F260-44F2-990A-CD8DADAA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00E599"/>
                </a:solidFill>
                <a:latin typeface="Menlo"/>
                <a:ea typeface="Menlo"/>
                <a:cs typeface="Menlo"/>
              </a:rPr>
              <a:t>24/24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D6E86-57FD-4066-8D59-E1310E16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1524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NeoHub artifacts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A26EBC-E21C-4B59-9314-94D2B498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24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NEF + manifest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CFABF-349D-4530-8774-6ED8C506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C8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2C8FF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758D4-7559-4447-8026-F680DE45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1524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SP1 release gates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0797B-4F23-49E6-A3EF-ABC66C09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ignored real-CPU E2E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C506D5-328A-4B12-8317-9A526192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B7C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8B7CFF"/>
                </a:solidFill>
                <a:latin typeface="Menlo"/>
                <a:ea typeface="Menlo"/>
                <a:cs typeface="Menlo"/>
              </a:rPr>
              <a:t>X-lang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8F8A60-2088-4358-BEFE-6E86228E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33850"/>
            <a:ext cx="1524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wire parity gates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BD8A14-F459-430D-A278-94217D37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38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Rust · TS · Foundry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9DB5C0-3B7E-4E04-AC14-C6C857B3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90750"/>
            <a:ext cx="51054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76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CBF3A7-5220-49FE-9AF7-B4B4CAA4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193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Coverage by risk category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FA65E8-13CC-4F1B-BB4D-7E7A4B62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decoder rejects garbage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D35044-B937-4B32-AE38-45F0BFD2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28950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1B35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85F1D6-DF32-45B4-822B-065519B1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28950"/>
            <a:ext cx="33299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A17F26-5942-453B-91DA-9E6849B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round-trip identity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F1CE83-6525-44D8-8096-E8DB37E8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1B35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D7AC1-4783-435C-A5DB-885E6FB8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8AADFB-21C4-454A-B4BD-27F370F6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719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on-chain/off-chain parity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40BB0E-6EA6-45FF-B36E-096F38FA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90950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1B355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0FA8DC-ACDB-4B38-8D5E-6BE07560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90950"/>
            <a:ext cx="311277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1AECA9-2212-4D7A-8AD3-4CBB4A81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E2E phase stitches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5F0505-874E-4749-A46F-B25FC0D8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71950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1B355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18E56A-BA5B-4377-ACF9-60FC03E4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71950"/>
            <a:ext cx="296799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0"/>
          </a:solidFill>
          <a:ln xmlns:a="http://schemas.openxmlformats.org/drawingml/2006/main" w="0">
            <a:solidFill>
              <a:srgbClr val="F6C76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387AF5-07F6-4A7E-BD3F-0D9CAD05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339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real cryptographic proof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EFD956-276F-4B13-AA9C-65EF6BE9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52950"/>
            <a:ext cx="3619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8"/>
          </a:solidFill>
          <a:ln xmlns:a="http://schemas.openxmlformats.org/drawingml/2006/main" w="9525">
            <a:solidFill>
              <a:srgbClr val="1B35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B11DDB-A677-4A7A-AE68-A94CC44A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52950"/>
            <a:ext cx="224409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F54A3D-7B9E-4BD3-8B5C-33D9EDCE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38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Real SP1 proof tests are intentionally ignored release gates because they are expensive.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A63468-A0E2-46D5-AF59-49EA5DBC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A99146-BA3B-421A-A9E5-CA248832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docs/testing-approach.md, docs/tech-stack-coverage.md, README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F1FA0E-34D4-4CD3-A9E4-EC44B99D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092114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68B243-B8EE-4304-AF09-C6591A4B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200C1-26F3-4F73-B54E-B8DE9960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DDF7A-390F-40FB-99F3-5D0FD849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881CC-82C1-451B-B788-EF523B3D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1CD4B-26AE-4AF9-979D-3A63BE6D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C618F-D291-4C9F-A543-97C3710F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C1201-6DEA-461D-BCBD-8909FFD9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BE08D-9250-43F0-84A4-2F565AE1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EE5A3-90CB-4103-A0B2-3E7EEDCF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11989-8809-440B-856D-928C35DE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7D277-CF5A-46A1-87F7-E505BE2C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C7BFB-6CE5-488D-A974-BFEC0E3C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96554-92B8-4927-97E9-BE8604DA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kicker-OPERATING TRUTH-marker">
            <a:extLst xmlns:a="http://schemas.openxmlformats.org/drawingml/2006/main">
              <a:ext uri="{FF2B5EF4-FFF2-40B4-BE49-F238E27FC236}">
                <a16:creationId xmlns:a16="http://schemas.microsoft.com/office/drawing/2014/main" id="{47DD13AA-3C80-4857-A9A1-C9DCFEB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5" name="kicker-OPERATING TRUTH-label">
            <a:extLst xmlns:a="http://schemas.openxmlformats.org/drawingml/2006/main">
              <a:ext uri="{FF2B5EF4-FFF2-40B4-BE49-F238E27FC236}">
                <a16:creationId xmlns:a16="http://schemas.microsoft.com/office/drawing/2014/main" id="{9D86056E-052B-44C4-BA10-C33EA193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OPERATING TRUTH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E2A69-74F9-4EFC-8626-9BEF29C1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"/>
            <a:ext cx="1238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86CAC-0EDE-45B6-B458-1F66E6D5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“完整”不等于“所有风险都消失”；Neo N4 把 gap 变成显式决策。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3039D-B825-45FD-BA61-CC1A13B2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这页适合对投资人、审计方和 operator 直接讲清楚：哪些是 production path，哪些是 operator/security choice。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798F0-E04D-4DAC-B246-7AF5B240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460C8-9124-4D4D-A2D2-ABE21B4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E5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E599"/>
                </a:solidFill>
                <a:latin typeface="PingFang SC"/>
                <a:ea typeface="PingFang SC"/>
                <a:cs typeface="PingFang SC"/>
              </a:rPr>
              <a:t>Production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2A94B-5542-4174-A651-F8C9F6E2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669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RISC-V executor binding · NeoHub contracts · canonical encoders · Gateway seams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5F9B0-EA14-4A63-95D3-D87AE619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955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ship / operate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6534F-92E8-4E3E-90F7-357E6668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48833-944B-4743-BD23-D51D84D8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C8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2C8FF"/>
                </a:solidFill>
                <a:latin typeface="PingFang SC"/>
                <a:ea typeface="PingFang SC"/>
                <a:cs typeface="PingFang SC"/>
              </a:rPr>
              <a:t>Operator choice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5082B-B87C-494A-A15F-3C34C2F3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ProofType: attestation / optimistic / ZK · DA: L1 / NeoFS / DAC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8807A-24C5-4994-88FA-2806BDBA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194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declare trust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B39A9-9CE1-48CC-9333-33B10F20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E1A097-5E91-487C-80A0-F345EFC5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C76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6C760"/>
                </a:solidFill>
                <a:latin typeface="PingFang SC"/>
                <a:ea typeface="PingFang SC"/>
                <a:cs typeface="PingFang SC"/>
              </a:rPr>
              <a:t>Release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963368-726C-4068-912B-9F0B9964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Real SP1 proving · contract artifacts · cross-language byte parity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4DE1B-C926-4845-9610-B540985D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43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run before mainnet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1DFBDA-8863-49F4-8FAE-79DD8F9A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BB8D4B-069B-416B-866A-4861FD0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6B6B"/>
                </a:solidFill>
                <a:latin typeface="PingFang SC"/>
                <a:ea typeface="PingFang SC"/>
                <a:cs typeface="PingFang SC"/>
              </a:rPr>
              <a:t>Integration gap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51FA15-AB65-4A18-9A2F-422C472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386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wallet-side deploy/submit commands print structured plans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29DDBD-5BE0-4BEA-81B9-64ECED12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wire wallet automation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346E41-01E5-4E86-B59B-F812F462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4405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8806B8-A867-4725-B769-91DB5190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7C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7CFF"/>
                </a:solidFill>
                <a:latin typeface="PingFang SC"/>
                <a:ea typeface="PingFang SC"/>
                <a:cs typeface="PingFang SC"/>
              </a:rPr>
              <a:t>Future depth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02B9E6-7882-4040-A086-4F14CE5A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625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recursive ZK aggregation via SP1 Compress / Halo2 / Risc0 seam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C2FAD9-5777-4DF0-AB50-77A8F3A8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911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swap round prover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241A8C-8977-429C-81B2-6378950C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D0440F-11D7-461C-AE7D-EE2287CA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IMPLEMENTATION_STATUS.md production-readiness audit, AGENTS.md phased work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CEE5F9-15D3-441F-926E-2978519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019063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ED19DF-834D-46E9-9308-28D53AF7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DF9C2-CEBE-4E90-988D-B3C11B40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EFE1F-5F25-49FE-BC87-B02C97CC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5"/>
          </a:solidFill>
          <a:ln xmlns:a="http://schemas.openxmlformats.org/drawingml/2006/main" w="0">
            <a:solidFill>
              <a:srgbClr val="102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6431D-45CF-4785-A9CC-81314B25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0"/>
            <a:ext cx="1123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D30"/>
          </a:solidFill>
          <a:ln xmlns:a="http://schemas.openxmlformats.org/drawingml/2006/main" w="0">
            <a:solidFill>
              <a:srgbClr val="0E2D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32C89-1762-4F6F-86EE-3CB61FA4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696CB-8AB5-4473-B696-320E590A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AECE7-73F0-4FAF-8F4B-3846ACA9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E18C4-F93F-4308-9CC1-9F261BA6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CE573-3EF2-444D-9178-9B1BD5A6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5269E-C45C-4305-866E-77F50A76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8A558-0187-436B-B73A-60415FA9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7D518-DE82-4A0E-8ABE-3281D28F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9CF07-E4CB-41BD-84A5-8F175696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72250"/>
            <a:ext cx="6096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230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B39E7-01DE-4AC1-BDCA-B7F496B9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0E599"/>
                </a:solidFill>
                <a:latin typeface="Menlo"/>
                <a:ea typeface="Menlo"/>
                <a:cs typeface="Menlo"/>
              </a:rPr>
              <a:t>TAKEAWAY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A30EE-C857-454A-987F-BB82182E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38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 N4 已经把 Neo 的多 L2 网络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从“核心愿景”整理成“可运行系统”。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2C246-0F29-466C-8129-B771751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最终价值不是某个单点模块，而是统一资产根、统一状态验证、统一消息路由、明确 DA / proof 信任模型，以及可复现的 operator 工具链。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81C87-2E1A-42A8-B6CB-F0ED3C38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F3089-8FD5-4645-B30D-99631630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99"/>
          </a:solidFill>
          <a:ln xmlns:a="http://schemas.openxmlformats.org/drawingml/2006/main" w="0">
            <a:solidFill>
              <a:srgbClr val="00E5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77305-0012-420A-A85B-ED7327BA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397B4-0A0E-4CB0-9FF2-4049DAC0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neo-stack new-l2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scaffold executor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5E9D4-1C21-4A75-AED1-8094AB47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48100"/>
            <a:ext cx="438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2DF41-C5C4-427B-94FF-63D9466A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24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2D0C6-F03F-4997-9615-05E8FF41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42C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515D9-B170-4D2A-AA7E-91DC53C6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42C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2E4AC-F218-418D-9C24-EDBA85C7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433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6B508-2B63-4EC5-A350-CC559BAD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attestation → optimistic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→ zk validity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F3B03-CE40-4D4A-9820-D99D978A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48100"/>
            <a:ext cx="438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70C48D-2C91-4C30-8E30-A429AA12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24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40970-4813-4DDD-811D-521667D4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F6C76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A25307-91FD-4552-8403-29311051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760"/>
          </a:solidFill>
          <a:ln xmlns:a="http://schemas.openxmlformats.org/drawingml/2006/main" w="0">
            <a:solidFill>
              <a:srgbClr val="F6C76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DC876-A985-4C01-8DA5-44EE623F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Settle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892295-4976-488F-B27A-47DD11B3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NeoHub roots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SharedBridge assets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D7506A-9E61-41E6-89F3-16553C55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438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67809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6FEBF4-0F9B-4BC9-A53B-AD665CB4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2427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7B6C5F-694C-4C3E-9192-95383753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5FFF04-8EAB-445E-89AE-A7BAE05A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solidFill>
              <a:srgbClr val="8B7C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3BC05A-F811-4CDD-818F-35C41F4F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433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Scale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1D2E11-985A-4F14-B2A3-B1454BC5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100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Gateway aggregation</a:t>
            </a:r>
          </a:p>
          <a:p xmlns:a="http://schemas.openxmlformats.org/drawingml/2006/main">
            <a:pPr algn="l">
              <a:def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9DB2C8"/>
                </a:solidFill>
                <a:latin typeface="PingFang SC"/>
                <a:ea typeface="PingFang SC"/>
                <a:cs typeface="PingFang SC"/>
              </a:rPr>
              <a:t>L2↔L2 messages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255AA6-279D-4493-B40B-14D24A95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27476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6B6A6F-3CFE-4BC2-8BBE-8B17C04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76825"/>
            <a:ext cx="7296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下一步展示：devnet 运行、NeoHub deploy plan、RISC‑V executor、SP1 release-gate proof。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09FD85-2C69-4D6C-A087-145F7687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4770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00E59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D5259E-7166-4205-8760-DC29FACA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14375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7F3EA"/>
                </a:solidFill>
                <a:latin typeface="PingFang SC"/>
                <a:ea typeface="PingFang SC"/>
                <a:cs typeface="PingFang SC"/>
              </a:rPr>
              <a:t>Neo-native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2CABF6-3901-47A3-B2D4-E482204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363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50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FCC89E-B2FD-436A-AAA7-9A67244C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78098"/>
                </a:solidFill>
                <a:latin typeface="PingFang SC"/>
                <a:ea typeface="PingFang SC"/>
                <a:cs typeface="PingFang SC"/>
              </a:rPr>
              <a:t>Sources: doc.md §21–§23, README quick start, docs/architecture-walkthrough.md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A4580E-44F0-4747-86C9-6056AEE7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E59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00E599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4219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2026-06-04T23:25:09.3860000Z</dcterms:created>
  <dcterms:modified xsi:type="dcterms:W3CDTF">2026-06-04T23:25:09.3860000Z</dcterms:modified>
</coreProperties>
</file>